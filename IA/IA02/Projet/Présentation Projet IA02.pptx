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Lexend ExtraBold"/>
      <p:bold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Quattrocento Sans"/>
      <p:regular r:id="rId27"/>
      <p:bold r:id="rId28"/>
      <p:italic r:id="rId29"/>
      <p:boldItalic r:id="rId30"/>
    </p:embeddedFont>
    <p:embeddedFont>
      <p:font typeface="Lexen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exendExtraBold-bold.fntdata"/><Relationship Id="rId21" Type="http://schemas.openxmlformats.org/officeDocument/2006/relationships/slide" Target="slides/slide15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QuattrocentoSans-bold.fntdata"/><Relationship Id="rId27" Type="http://schemas.openxmlformats.org/officeDocument/2006/relationships/font" Target="fonts/QuattrocentoSan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Quattrocento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exend-regular.fntdata"/><Relationship Id="rId30" Type="http://schemas.openxmlformats.org/officeDocument/2006/relationships/font" Target="fonts/Quattrocento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Lexen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929ffa8af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929ffa8af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e929ffa8af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e929ffa8af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925effcbc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e925effcbc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944dfd4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e944dfd4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e925effcbc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e925effcbc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e925effcbc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e925effcbc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e925effcbc_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e925effcbc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925effcbc_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e925effcbc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e929ffa8af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e929ffa8af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e929ffa8af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e929ffa8af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e925effcbc_3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e925effcbc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e925effcbc_3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e925effcbc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e925effcbc_3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e925effcbc_3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925effcbc_3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e925effcbc_3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e929ffa8af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e929ffa8af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">
  <p:cSld name="TITLE_1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3381268">
            <a:off x="5312829" y="1296584"/>
            <a:ext cx="7386113" cy="534659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/>
          <p:nvPr>
            <p:ph idx="2" type="pic"/>
          </p:nvPr>
        </p:nvSpPr>
        <p:spPr>
          <a:xfrm>
            <a:off x="5424175" y="0"/>
            <a:ext cx="7163400" cy="5143500"/>
          </a:xfrm>
          <a:prstGeom prst="parallelogram">
            <a:avLst>
              <a:gd fmla="val 66127" name="adj"/>
            </a:avLst>
          </a:prstGeom>
          <a:noFill/>
          <a:ln>
            <a:noFill/>
          </a:ln>
        </p:spPr>
      </p:sp>
      <p:sp>
        <p:nvSpPr>
          <p:cNvPr id="53" name="Google Shape;53;p13"/>
          <p:cNvSpPr txBox="1"/>
          <p:nvPr>
            <p:ph type="ctrTitle"/>
          </p:nvPr>
        </p:nvSpPr>
        <p:spPr>
          <a:xfrm>
            <a:off x="839000" y="2022350"/>
            <a:ext cx="8663400" cy="20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 ExtraBold"/>
              <a:buNone/>
              <a:defRPr sz="6000"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839000" y="1512200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-328208">
            <a:off x="-915575" y="1383500"/>
            <a:ext cx="1752288" cy="1752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977600" y="2022350"/>
            <a:ext cx="979500" cy="34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" name="Google Shape;58;p13"/>
          <p:cNvGrpSpPr/>
          <p:nvPr/>
        </p:nvGrpSpPr>
        <p:grpSpPr>
          <a:xfrm>
            <a:off x="136503" y="118011"/>
            <a:ext cx="596958" cy="154917"/>
            <a:chOff x="1443800" y="347075"/>
            <a:chExt cx="749100" cy="194400"/>
          </a:xfrm>
        </p:grpSpPr>
        <p:sp>
          <p:nvSpPr>
            <p:cNvPr id="59" name="Google Shape;59;p13"/>
            <p:cNvSpPr/>
            <p:nvPr/>
          </p:nvSpPr>
          <p:spPr>
            <a:xfrm>
              <a:off x="1443800" y="347075"/>
              <a:ext cx="194400" cy="19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1721150" y="347075"/>
              <a:ext cx="194400" cy="19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1998500" y="347075"/>
              <a:ext cx="194400" cy="19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50" y="4714400"/>
            <a:ext cx="684875" cy="3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>
            <p:ph idx="3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ontserrat"/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" type="title">
  <p:cSld name="TITLE"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rot="-3381268">
            <a:off x="5312829" y="1296584"/>
            <a:ext cx="7386113" cy="534659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>
            <p:ph idx="2" type="pic"/>
          </p:nvPr>
        </p:nvSpPr>
        <p:spPr>
          <a:xfrm>
            <a:off x="5424175" y="0"/>
            <a:ext cx="7163400" cy="5143500"/>
          </a:xfrm>
          <a:prstGeom prst="parallelogram">
            <a:avLst>
              <a:gd fmla="val 66127" name="adj"/>
            </a:avLst>
          </a:prstGeom>
          <a:noFill/>
          <a:ln>
            <a:noFill/>
          </a:ln>
        </p:spPr>
      </p:sp>
      <p:sp>
        <p:nvSpPr>
          <p:cNvPr id="71" name="Google Shape;71;p15"/>
          <p:cNvSpPr txBox="1"/>
          <p:nvPr>
            <p:ph type="ctrTitle"/>
          </p:nvPr>
        </p:nvSpPr>
        <p:spPr>
          <a:xfrm>
            <a:off x="839000" y="2022350"/>
            <a:ext cx="8663400" cy="20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exend ExtraBold"/>
              <a:buNone/>
              <a:defRPr sz="6000"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839000" y="1512200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-328208">
            <a:off x="-915575" y="1383500"/>
            <a:ext cx="1752288" cy="1752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977600" y="2022350"/>
            <a:ext cx="979500" cy="34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" name="Google Shape;76;p15"/>
          <p:cNvGrpSpPr/>
          <p:nvPr/>
        </p:nvGrpSpPr>
        <p:grpSpPr>
          <a:xfrm>
            <a:off x="136503" y="118011"/>
            <a:ext cx="596958" cy="154917"/>
            <a:chOff x="1443800" y="347075"/>
            <a:chExt cx="749100" cy="194400"/>
          </a:xfrm>
        </p:grpSpPr>
        <p:sp>
          <p:nvSpPr>
            <p:cNvPr id="77" name="Google Shape;77;p15"/>
            <p:cNvSpPr/>
            <p:nvPr/>
          </p:nvSpPr>
          <p:spPr>
            <a:xfrm>
              <a:off x="1443800" y="347075"/>
              <a:ext cx="194400" cy="19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1721150" y="347075"/>
              <a:ext cx="194400" cy="19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1998500" y="347075"/>
              <a:ext cx="194400" cy="19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50" y="4714400"/>
            <a:ext cx="684875" cy="3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3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ontserrat"/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1935675"/>
            <a:ext cx="8520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Lexend ExtraBold"/>
              <a:buNone/>
              <a:defRPr sz="5000"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311700" y="382017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"/>
              <a:buNone/>
              <a:defRPr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6" name="Google Shape;86;p16"/>
          <p:cNvSpPr/>
          <p:nvPr/>
        </p:nvSpPr>
        <p:spPr>
          <a:xfrm>
            <a:off x="408650" y="3698675"/>
            <a:ext cx="979500" cy="34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16"/>
          <p:cNvGrpSpPr/>
          <p:nvPr/>
        </p:nvGrpSpPr>
        <p:grpSpPr>
          <a:xfrm>
            <a:off x="136503" y="118011"/>
            <a:ext cx="596958" cy="154917"/>
            <a:chOff x="1443800" y="347075"/>
            <a:chExt cx="749100" cy="194400"/>
          </a:xfrm>
        </p:grpSpPr>
        <p:sp>
          <p:nvSpPr>
            <p:cNvPr id="88" name="Google Shape;88;p16"/>
            <p:cNvSpPr/>
            <p:nvPr/>
          </p:nvSpPr>
          <p:spPr>
            <a:xfrm>
              <a:off x="1443800" y="347075"/>
              <a:ext cx="194400" cy="19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1721150" y="347075"/>
              <a:ext cx="194400" cy="19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1998500" y="347075"/>
              <a:ext cx="194400" cy="19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1" name="Google Shape;9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550" y="4714400"/>
            <a:ext cx="684875" cy="3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>
            <p:ph idx="2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ontserrat"/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284600" y="401325"/>
            <a:ext cx="8520600" cy="1006500"/>
          </a:xfrm>
          <a:prstGeom prst="roundRect">
            <a:avLst>
              <a:gd fmla="val 1313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602125"/>
            <a:ext cx="8520600" cy="30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8" name="Google Shape;98;p17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9" name="Google Shape;99;p17"/>
          <p:cNvSpPr/>
          <p:nvPr/>
        </p:nvSpPr>
        <p:spPr>
          <a:xfrm>
            <a:off x="505825" y="954825"/>
            <a:ext cx="979500" cy="34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" name="Google Shape;100;p17"/>
          <p:cNvGrpSpPr/>
          <p:nvPr/>
        </p:nvGrpSpPr>
        <p:grpSpPr>
          <a:xfrm>
            <a:off x="136503" y="118011"/>
            <a:ext cx="596958" cy="154917"/>
            <a:chOff x="1443800" y="347075"/>
            <a:chExt cx="749100" cy="194400"/>
          </a:xfrm>
        </p:grpSpPr>
        <p:sp>
          <p:nvSpPr>
            <p:cNvPr id="101" name="Google Shape;101;p17"/>
            <p:cNvSpPr/>
            <p:nvPr/>
          </p:nvSpPr>
          <p:spPr>
            <a:xfrm>
              <a:off x="1443800" y="347075"/>
              <a:ext cx="194400" cy="19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1721150" y="347075"/>
              <a:ext cx="194400" cy="19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1998500" y="347075"/>
              <a:ext cx="194400" cy="19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4" name="Google Shape;10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550" y="4714400"/>
            <a:ext cx="684875" cy="3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>
            <p:ph idx="3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ontserrat"/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7725650" y="401300"/>
            <a:ext cx="1079700" cy="1006500"/>
          </a:xfrm>
          <a:prstGeom prst="roundRect">
            <a:avLst>
              <a:gd fmla="val 14483" name="adj"/>
            </a:avLst>
          </a:prstGeom>
          <a:noFill/>
          <a:ln>
            <a:noFill/>
          </a:ln>
        </p:spPr>
      </p:pic>
      <p:sp>
        <p:nvSpPr>
          <p:cNvPr id="107" name="Google Shape;107;p17"/>
          <p:cNvSpPr/>
          <p:nvPr/>
        </p:nvSpPr>
        <p:spPr>
          <a:xfrm>
            <a:off x="7725650" y="400825"/>
            <a:ext cx="256800" cy="100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pSp>
        <p:nvGrpSpPr>
          <p:cNvPr id="111" name="Google Shape;111;p18"/>
          <p:cNvGrpSpPr/>
          <p:nvPr/>
        </p:nvGrpSpPr>
        <p:grpSpPr>
          <a:xfrm>
            <a:off x="136503" y="118011"/>
            <a:ext cx="596958" cy="154917"/>
            <a:chOff x="1443800" y="347075"/>
            <a:chExt cx="749100" cy="194400"/>
          </a:xfrm>
        </p:grpSpPr>
        <p:sp>
          <p:nvSpPr>
            <p:cNvPr id="112" name="Google Shape;112;p18"/>
            <p:cNvSpPr/>
            <p:nvPr/>
          </p:nvSpPr>
          <p:spPr>
            <a:xfrm>
              <a:off x="1443800" y="347075"/>
              <a:ext cx="194400" cy="19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8"/>
            <p:cNvSpPr/>
            <p:nvPr/>
          </p:nvSpPr>
          <p:spPr>
            <a:xfrm>
              <a:off x="1721150" y="347075"/>
              <a:ext cx="194400" cy="19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8"/>
            <p:cNvSpPr/>
            <p:nvPr/>
          </p:nvSpPr>
          <p:spPr>
            <a:xfrm>
              <a:off x="1998500" y="347075"/>
              <a:ext cx="194400" cy="19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5" name="Google Shape;11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550" y="4714400"/>
            <a:ext cx="684875" cy="3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ontserrat"/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">
  <p:cSld name="CUSTOM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pSp>
        <p:nvGrpSpPr>
          <p:cNvPr id="119" name="Google Shape;119;p19"/>
          <p:cNvGrpSpPr/>
          <p:nvPr/>
        </p:nvGrpSpPr>
        <p:grpSpPr>
          <a:xfrm>
            <a:off x="136503" y="118011"/>
            <a:ext cx="596958" cy="154917"/>
            <a:chOff x="1443800" y="347075"/>
            <a:chExt cx="749100" cy="194400"/>
          </a:xfrm>
        </p:grpSpPr>
        <p:sp>
          <p:nvSpPr>
            <p:cNvPr id="120" name="Google Shape;120;p19"/>
            <p:cNvSpPr/>
            <p:nvPr/>
          </p:nvSpPr>
          <p:spPr>
            <a:xfrm>
              <a:off x="1443800" y="347075"/>
              <a:ext cx="194400" cy="19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1721150" y="347075"/>
              <a:ext cx="194400" cy="19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1998500" y="347075"/>
              <a:ext cx="194400" cy="19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3" name="Google Shape;12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550" y="4714400"/>
            <a:ext cx="684875" cy="3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Montserrat"/>
              <a:buNone/>
              <a:def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9"/>
          <p:cNvSpPr/>
          <p:nvPr/>
        </p:nvSpPr>
        <p:spPr>
          <a:xfrm>
            <a:off x="284600" y="401325"/>
            <a:ext cx="8520600" cy="1006500"/>
          </a:xfrm>
          <a:prstGeom prst="roundRect">
            <a:avLst>
              <a:gd fmla="val 13134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" name="Google Shape;126;p19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8" name="Google Shape;128;p19"/>
          <p:cNvSpPr/>
          <p:nvPr/>
        </p:nvSpPr>
        <p:spPr>
          <a:xfrm>
            <a:off x="505825" y="954825"/>
            <a:ext cx="979500" cy="34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7725650" y="401300"/>
            <a:ext cx="1079700" cy="1006500"/>
          </a:xfrm>
          <a:prstGeom prst="roundRect">
            <a:avLst>
              <a:gd fmla="val 14483" name="adj"/>
            </a:avLst>
          </a:prstGeom>
          <a:noFill/>
          <a:ln>
            <a:noFill/>
          </a:ln>
        </p:spPr>
      </p:pic>
      <p:sp>
        <p:nvSpPr>
          <p:cNvPr id="130" name="Google Shape;130;p19"/>
          <p:cNvSpPr/>
          <p:nvPr/>
        </p:nvSpPr>
        <p:spPr>
          <a:xfrm>
            <a:off x="7656250" y="400825"/>
            <a:ext cx="326100" cy="100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ExtraBold"/>
              <a:buNone/>
              <a:defRPr sz="2800"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  <a:def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buNone/>
              <a:defRPr sz="10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buNone/>
              <a:defRPr sz="10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buNone/>
              <a:defRPr sz="10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buNone/>
              <a:defRPr sz="10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buNone/>
              <a:defRPr sz="10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buNone/>
              <a:defRPr sz="10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buNone/>
              <a:defRPr sz="10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buNone/>
              <a:defRPr sz="10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ctrTitle"/>
          </p:nvPr>
        </p:nvSpPr>
        <p:spPr>
          <a:xfrm>
            <a:off x="839000" y="2022350"/>
            <a:ext cx="8663400" cy="20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0"/>
              <a:t>Présentation</a:t>
            </a:r>
            <a:endParaRPr sz="7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0"/>
              <a:t>Projet</a:t>
            </a:r>
            <a:endParaRPr sz="7000"/>
          </a:p>
        </p:txBody>
      </p:sp>
      <p:sp>
        <p:nvSpPr>
          <p:cNvPr id="136" name="Google Shape;136;p20"/>
          <p:cNvSpPr txBox="1"/>
          <p:nvPr>
            <p:ph idx="1" type="subTitle"/>
          </p:nvPr>
        </p:nvSpPr>
        <p:spPr>
          <a:xfrm>
            <a:off x="839000" y="1512200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IA02</a:t>
            </a:r>
            <a:endParaRPr/>
          </a:p>
        </p:txBody>
      </p:sp>
      <p:sp>
        <p:nvSpPr>
          <p:cNvPr id="137" name="Google Shape;137;p20"/>
          <p:cNvSpPr txBox="1"/>
          <p:nvPr>
            <p:ph idx="3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138" name="Google Shape;138;p20"/>
          <p:cNvSpPr/>
          <p:nvPr>
            <p:ph idx="2" type="pic"/>
          </p:nvPr>
        </p:nvSpPr>
        <p:spPr>
          <a:xfrm>
            <a:off x="5424175" y="0"/>
            <a:ext cx="7163400" cy="5143500"/>
          </a:xfrm>
          <a:prstGeom prst="parallelogram">
            <a:avLst>
              <a:gd fmla="val 25000" name="adj"/>
            </a:avLst>
          </a:prstGeom>
        </p:spPr>
      </p:sp>
      <p:sp>
        <p:nvSpPr>
          <p:cNvPr id="139" name="Google Shape;139;p20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5" name="Google Shape;145;p21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146" name="Google Shape;146;p21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INTRODUCTION</a:t>
            </a:r>
            <a:endParaRPr/>
          </a:p>
        </p:txBody>
      </p:sp>
      <p:sp>
        <p:nvSpPr>
          <p:cNvPr id="147" name="Google Shape;147;p21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207500" y="4726675"/>
            <a:ext cx="612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Crédits : https://www.kaggle.com/datasets/catherinerasgaitis/mxmh-survey-results</a:t>
            </a:r>
            <a:endParaRPr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311275" y="1529200"/>
            <a:ext cx="8254200" cy="31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Char char="●"/>
            </a:pPr>
            <a:r>
              <a:rPr lang="fr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Contexte du projet </a:t>
            </a:r>
            <a:endParaRPr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Char char="●"/>
            </a:pPr>
            <a:r>
              <a:rPr lang="fr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Objectifs</a:t>
            </a:r>
            <a:endParaRPr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Char char="●"/>
            </a:pPr>
            <a:r>
              <a:rPr lang="fr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Importance &amp; Impact</a:t>
            </a:r>
            <a:endParaRPr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56" name="Google Shape;156;p22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157" name="Google Shape;157;p22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du dataset</a:t>
            </a:r>
            <a:endParaRPr/>
          </a:p>
        </p:txBody>
      </p:sp>
      <p:sp>
        <p:nvSpPr>
          <p:cNvPr id="158" name="Google Shape;158;p22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207500" y="4726675"/>
            <a:ext cx="612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Crédits : https://www.kaggle.com/datasets/catherinerasgaitis/mxmh-survey-results</a:t>
            </a:r>
            <a:endParaRPr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311275" y="1529200"/>
            <a:ext cx="8254200" cy="31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Source des </a:t>
            </a: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données</a:t>
            </a: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Format des donnees d’entree (.gro)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Conversion des données 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Analyse exploratoire &amp; nettoyage des données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Réduction de la taille des données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7" name="Google Shape;167;p23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168" name="Google Shape;168;p23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du dataset</a:t>
            </a:r>
            <a:endParaRPr/>
          </a:p>
        </p:txBody>
      </p:sp>
      <p:sp>
        <p:nvSpPr>
          <p:cNvPr id="169" name="Google Shape;169;p23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fr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rPr>
              <a:t>Format des donnees d’entree (.gro)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207500" y="4726675"/>
            <a:ext cx="612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Crédits : https://www.kaggle.com/datasets/catherinerasgaitis/mxmh-survey-results</a:t>
            </a:r>
            <a:endParaRPr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311275" y="1529200"/>
            <a:ext cx="8254200" cy="31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877" y="1720850"/>
            <a:ext cx="5318597" cy="258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/>
        </p:nvSpPr>
        <p:spPr>
          <a:xfrm>
            <a:off x="566025" y="1605575"/>
            <a:ext cx="2266500" cy="29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Les colonnes contiennent les informations suivantes (de gauche à droite) :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-"/>
            </a:pPr>
            <a:r>
              <a:rPr lang="fr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index du résidu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-"/>
            </a:pPr>
            <a:r>
              <a:rPr lang="fr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nom du résidu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-"/>
            </a:pPr>
            <a:r>
              <a:rPr lang="fr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nom de l'atome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-"/>
            </a:pPr>
            <a:r>
              <a:rPr lang="fr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index de l'atome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-"/>
            </a:pPr>
            <a:r>
              <a:rPr lang="fr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position (en nm, x y z en 3 colonnes avec 3 décimales)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0" name="Google Shape;180;p24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181" name="Google Shape;181;p24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du dataset</a:t>
            </a:r>
            <a:endParaRPr/>
          </a:p>
        </p:txBody>
      </p:sp>
      <p:sp>
        <p:nvSpPr>
          <p:cNvPr id="182" name="Google Shape;182;p24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latin typeface="Arial"/>
                <a:ea typeface="Arial"/>
                <a:cs typeface="Arial"/>
                <a:sym typeface="Arial"/>
              </a:rPr>
              <a:t>Conversion des Donnée</a:t>
            </a:r>
            <a:r>
              <a:rPr b="1" lang="fr">
                <a:latin typeface="Arial"/>
                <a:ea typeface="Arial"/>
                <a:cs typeface="Arial"/>
                <a:sym typeface="Arial"/>
              </a:rPr>
              <a:t>s (.csv)</a:t>
            </a:r>
            <a:endParaRPr/>
          </a:p>
        </p:txBody>
      </p:sp>
      <p:sp>
        <p:nvSpPr>
          <p:cNvPr id="183" name="Google Shape;183;p24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4"/>
          <p:cNvSpPr txBox="1"/>
          <p:nvPr/>
        </p:nvSpPr>
        <p:spPr>
          <a:xfrm>
            <a:off x="207500" y="4726675"/>
            <a:ext cx="612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Crédits : https://www.kaggle.com/datasets/catherinerasgaitis/mxmh-survey-results</a:t>
            </a:r>
            <a:endParaRPr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4"/>
          <p:cNvSpPr txBox="1"/>
          <p:nvPr/>
        </p:nvSpPr>
        <p:spPr>
          <a:xfrm>
            <a:off x="311275" y="1529200"/>
            <a:ext cx="8254200" cy="31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</a:rPr>
              <a:t>Nous avons décidé de créer un fichier csv par peptide, que nous chargeons alors l’un après l’autre, après traitement du précédent. Ces fichiers csv possèdent les colonnes suivantes :</a:t>
            </a:r>
            <a:endParaRPr sz="1300">
              <a:solidFill>
                <a:schemeClr val="lt1"/>
              </a:solidFill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Lexend"/>
              <a:buChar char="●"/>
            </a:pPr>
            <a:r>
              <a:rPr lang="fr" sz="1300">
                <a:solidFill>
                  <a:schemeClr val="lt1"/>
                </a:solidFill>
              </a:rPr>
              <a:t>'Peptide' (le nom)</a:t>
            </a:r>
            <a:endParaRPr sz="1300">
              <a:solidFill>
                <a:schemeClr val="lt1"/>
              </a:solidFill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Lexend"/>
              <a:buChar char="●"/>
            </a:pPr>
            <a:r>
              <a:rPr lang="fr" sz="1300">
                <a:solidFill>
                  <a:schemeClr val="lt1"/>
                </a:solidFill>
              </a:rPr>
              <a:t>'Time' (le temps associé à la position)</a:t>
            </a:r>
            <a:endParaRPr sz="1300">
              <a:solidFill>
                <a:schemeClr val="lt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" sz="1300">
                <a:solidFill>
                  <a:schemeClr val="lt1"/>
                </a:solidFill>
              </a:rPr>
              <a:t>'Residue_index' (index du résidu du fichier gro)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f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" sz="1300">
                <a:solidFill>
                  <a:schemeClr val="lt1"/>
                </a:solidFill>
              </a:rPr>
              <a:t>'Residue' (le nom)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86" name="Google Shape;186;p24"/>
          <p:cNvSpPr txBox="1"/>
          <p:nvPr/>
        </p:nvSpPr>
        <p:spPr>
          <a:xfrm>
            <a:off x="4453000" y="2716825"/>
            <a:ext cx="3628500" cy="152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f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" sz="1300">
                <a:solidFill>
                  <a:schemeClr val="lt1"/>
                </a:solidFill>
              </a:rPr>
              <a:t>'Atom' (le nom)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fr" sz="1300">
                <a:solidFill>
                  <a:schemeClr val="lt1"/>
                </a:solidFill>
              </a:rPr>
              <a:t>'Atom_index' (index de l’atome du fichier gro)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f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" sz="1300">
                <a:solidFill>
                  <a:schemeClr val="lt1"/>
                </a:solidFill>
              </a:rPr>
              <a:t>'x' , </a:t>
            </a:r>
            <a:r>
              <a:rPr lang="fr" sz="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" sz="1300">
                <a:solidFill>
                  <a:schemeClr val="lt1"/>
                </a:solidFill>
              </a:rPr>
              <a:t>'y', 'z'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2" name="Google Shape;192;p25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193" name="Google Shape;193;p25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du dataset</a:t>
            </a:r>
            <a:endParaRPr/>
          </a:p>
        </p:txBody>
      </p:sp>
      <p:sp>
        <p:nvSpPr>
          <p:cNvPr id="194" name="Google Shape;194;p25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Lexend"/>
                <a:ea typeface="Lexend"/>
                <a:cs typeface="Lexend"/>
                <a:sym typeface="Lexend"/>
              </a:rPr>
              <a:t>Analyse exploratoire &amp;  Nettoyage des données</a:t>
            </a:r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207500" y="4726675"/>
            <a:ext cx="612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Crédits : https://www.kaggle.com/datasets/catherinerasgaitis/mxmh-survey-results</a:t>
            </a:r>
            <a:endParaRPr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5"/>
          <p:cNvSpPr txBox="1"/>
          <p:nvPr/>
        </p:nvSpPr>
        <p:spPr>
          <a:xfrm>
            <a:off x="311275" y="1529200"/>
            <a:ext cx="8254200" cy="31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Quelques exemples de peptides actifs et inactifs :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fr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fr" sz="1200">
                <a:solidFill>
                  <a:schemeClr val="accent1"/>
                </a:solidFill>
              </a:rPr>
              <a:t>APGVGV (inactif)</a:t>
            </a:r>
            <a:r>
              <a:rPr lang="fr" sz="1200">
                <a:solidFill>
                  <a:schemeClr val="lt1"/>
                </a:solidFill>
              </a:rPr>
              <a:t> (79 atomes) : ACE (résidu C2H3O) / ALA (Alanine C3H5NO) / PRO (proline C5H7NO) / GLY (Glycine C2H3NO) / VAL (Valine C5H9NO) / GLY / VAL / (NH2)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b="1" lang="fr" sz="1200">
                <a:solidFill>
                  <a:schemeClr val="accent1"/>
                </a:solidFill>
              </a:rPr>
              <a:t>EGFEPG (actif) </a:t>
            </a:r>
            <a:r>
              <a:rPr lang="fr" sz="1200">
                <a:solidFill>
                  <a:schemeClr val="lt1"/>
                </a:solidFill>
              </a:rPr>
              <a:t>(87 atomes) : ACE / GLU (Acide glutamique C5H7NO3) / GLY / PHE (Phénylalanine C9H9NO) / GLU / PRO / GLY / (NH2)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b="1" lang="fr" sz="1200">
                <a:solidFill>
                  <a:schemeClr val="accent1"/>
                </a:solidFill>
              </a:rPr>
              <a:t>GVAPGV (actif)</a:t>
            </a:r>
            <a:r>
              <a:rPr lang="fr" sz="1200">
                <a:solidFill>
                  <a:schemeClr val="lt1"/>
                </a:solidFill>
              </a:rPr>
              <a:t> (79 atomes) : ACE / GLY / VAL / ALA / PRO / GLY / VAL / (NH2)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b="1" lang="fr" sz="1200">
                <a:solidFill>
                  <a:schemeClr val="accent1"/>
                </a:solidFill>
              </a:rPr>
              <a:t>GVGVAP (inactif)</a:t>
            </a:r>
            <a:r>
              <a:rPr lang="fr" sz="1200">
                <a:solidFill>
                  <a:schemeClr val="accent1"/>
                </a:solidFill>
              </a:rPr>
              <a:t> </a:t>
            </a:r>
            <a:r>
              <a:rPr lang="fr" sz="1200">
                <a:solidFill>
                  <a:schemeClr val="lt1"/>
                </a:solidFill>
              </a:rPr>
              <a:t>(79 atomes) : ACE / GLY / VAL / GLY / VAL / ALA / PRO / (NH2)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●"/>
            </a:pPr>
            <a:r>
              <a:rPr b="1" lang="fr" sz="1200">
                <a:solidFill>
                  <a:schemeClr val="accent1"/>
                </a:solidFill>
              </a:rPr>
              <a:t>LGTIPG (actif)</a:t>
            </a:r>
            <a:r>
              <a:rPr lang="fr" sz="1200">
                <a:solidFill>
                  <a:schemeClr val="lt1"/>
                </a:solidFill>
              </a:rPr>
              <a:t> (89 atomes) : ACE / LEU (Leucine C6H11NO) / GLY / THR (Thréonine C4H7NO2) / ILE (Isoleucine C6H11NO) / PRO / GLY / (NH2)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L’analyse exploratoire des 12 peptides nous a révélé qu’il n’y avait </a:t>
            </a:r>
            <a:r>
              <a:rPr b="1" lang="fr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ni valeurs manquantes, ni doublons. </a:t>
            </a:r>
            <a:endParaRPr b="1" sz="15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3" name="Google Shape;203;p26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204" name="Google Shape;204;p26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du dataset</a:t>
            </a:r>
            <a:endParaRPr/>
          </a:p>
        </p:txBody>
      </p:sp>
      <p:sp>
        <p:nvSpPr>
          <p:cNvPr id="205" name="Google Shape;205;p26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Lexend"/>
                <a:ea typeface="Lexend"/>
                <a:cs typeface="Lexend"/>
                <a:sym typeface="Lexend"/>
              </a:rPr>
              <a:t>Réduction de la taille des données</a:t>
            </a:r>
            <a:endParaRPr/>
          </a:p>
        </p:txBody>
      </p:sp>
      <p:sp>
        <p:nvSpPr>
          <p:cNvPr id="206" name="Google Shape;206;p26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6"/>
          <p:cNvSpPr txBox="1"/>
          <p:nvPr/>
        </p:nvSpPr>
        <p:spPr>
          <a:xfrm>
            <a:off x="207500" y="4726675"/>
            <a:ext cx="612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Crédits : https://www.kaggle.com/datasets/catherinerasgaitis/mxmh-survey-results</a:t>
            </a:r>
            <a:endParaRPr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311375" y="1529275"/>
            <a:ext cx="8254200" cy="31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Pour y remédier, nous avons utilisé </a:t>
            </a:r>
            <a:r>
              <a:rPr b="1" lang="fr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deux réductions différentes</a:t>
            </a:r>
            <a:r>
              <a:rPr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avec pour </a:t>
            </a:r>
            <a:r>
              <a:rPr b="1" lang="fr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but de réduire par 10 le nombre de conformations pour en obtenir un total de 4001 par peptides.</a:t>
            </a:r>
            <a:endParaRPr b="1">
              <a:solidFill>
                <a:schemeClr val="accen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lang="fr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première</a:t>
            </a:r>
            <a:r>
              <a:rPr b="1"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consiste à </a:t>
            </a:r>
            <a:r>
              <a:rPr b="1" lang="fr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retirer 9 conformations sur 10</a:t>
            </a:r>
            <a:r>
              <a:rPr lang="fr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lang="fr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 manière régulière</a:t>
            </a:r>
            <a:r>
              <a:rPr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nous permettant de </a:t>
            </a:r>
            <a:r>
              <a:rPr b="1"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conserver une durée d’expérience de 200ns au détriment de la précision des mouvements.</a:t>
            </a:r>
            <a:endParaRPr b="1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</a:t>
            </a:r>
            <a:r>
              <a:rPr b="1" lang="fr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seconde</a:t>
            </a:r>
            <a:r>
              <a:rPr b="1"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 contraire consiste à</a:t>
            </a:r>
            <a:r>
              <a:rPr b="1"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lang="fr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 garder que les 4001 premières conformations</a:t>
            </a:r>
            <a:r>
              <a:rPr b="1"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r>
              <a:rPr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nous permettant de </a:t>
            </a:r>
            <a:r>
              <a:rPr b="1"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conserver l’entièreté des mouvements sur une période donnée seulement</a:t>
            </a:r>
            <a:r>
              <a:rPr lang="fr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1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4" name="Google Shape;214;p27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215" name="Google Shape;215;p27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Clustering des conformations peptidiques</a:t>
            </a:r>
            <a:endParaRPr/>
          </a:p>
        </p:txBody>
      </p:sp>
      <p:sp>
        <p:nvSpPr>
          <p:cNvPr id="216" name="Google Shape;216;p27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7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7"/>
          <p:cNvSpPr txBox="1"/>
          <p:nvPr/>
        </p:nvSpPr>
        <p:spPr>
          <a:xfrm>
            <a:off x="207500" y="4726675"/>
            <a:ext cx="612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Crédits : https://www.kaggle.com/datasets/catherinerasgaitis/mxmh-survey-results</a:t>
            </a:r>
            <a:endParaRPr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311275" y="1529200"/>
            <a:ext cx="4414800" cy="31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Pourquoi faire une classification non-supervisée ?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Définition</a:t>
            </a: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d’une distance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Calcul de la matrice des distances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Algorithme DBSCAN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Sélection</a:t>
            </a: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des </a:t>
            </a: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hyperparamètres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Résultats du Clustering (EGFEPG, 2ème réduction)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" name="Google Shape;220;p27"/>
          <p:cNvPicPr preferRelativeResize="0"/>
          <p:nvPr/>
        </p:nvPicPr>
        <p:blipFill rotWithShape="1">
          <a:blip r:embed="rId3">
            <a:alphaModFix/>
          </a:blip>
          <a:srcRect b="0" l="5108" r="12355" t="5846"/>
          <a:stretch/>
        </p:blipFill>
        <p:spPr>
          <a:xfrm>
            <a:off x="4898510" y="1529202"/>
            <a:ext cx="3666964" cy="31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26" name="Google Shape;226;p28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227" name="Google Shape;227;p28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Clustering des conformations peptidiques</a:t>
            </a:r>
            <a:endParaRPr/>
          </a:p>
        </p:txBody>
      </p:sp>
      <p:sp>
        <p:nvSpPr>
          <p:cNvPr id="228" name="Google Shape;228;p28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8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207500" y="4726675"/>
            <a:ext cx="612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Crédits : https://www.kaggle.com/datasets/catherinerasgaitis/mxmh-survey-results</a:t>
            </a:r>
            <a:endParaRPr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311275" y="1529200"/>
            <a:ext cx="4414800" cy="31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Pourquoi faire une classification non-supervisée ?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Définition d’une distance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Calcul de la matrice des distances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Algorithme DBSCAN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Sélection des hyperparamètres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Résultats du Clustering (EGFEPG, 2ème réduction)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8500" y="1529200"/>
            <a:ext cx="3666975" cy="2750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38" name="Google Shape;238;p29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239" name="Google Shape;239;p29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Création du nouveau Dataset</a:t>
            </a:r>
            <a:endParaRPr/>
          </a:p>
        </p:txBody>
      </p:sp>
      <p:sp>
        <p:nvSpPr>
          <p:cNvPr id="240" name="Google Shape;240;p29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9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207500" y="4726675"/>
            <a:ext cx="612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Crédits : https://www.kaggle.com/datasets/catherinerasgaitis/mxmh-survey-results</a:t>
            </a:r>
            <a:endParaRPr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311275" y="1529200"/>
            <a:ext cx="8254200" cy="31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'Peptide' (le nom)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'Nb_conformations' (nombre de conformations uniques)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‘Nb_outliers’ (nombre de conformations hors clusters)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‘Average_nb_state_per_conf’ (nombre moyen de conformations identiques par état stable)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'Actif' (booléen) 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49" name="Google Shape;249;p30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250" name="Google Shape;250;p30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Classification des </a:t>
            </a:r>
            <a:r>
              <a:rPr lang="fr"/>
              <a:t>différents</a:t>
            </a:r>
            <a:r>
              <a:rPr lang="fr"/>
              <a:t> peptides</a:t>
            </a:r>
            <a:endParaRPr/>
          </a:p>
        </p:txBody>
      </p:sp>
      <p:sp>
        <p:nvSpPr>
          <p:cNvPr id="251" name="Google Shape;251;p30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Comparaisons des résultats de chaque algorithme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207500" y="4726675"/>
            <a:ext cx="612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Crédits : https://www.kaggle.com/datasets/catherinerasgaitis/mxmh-survey-results</a:t>
            </a:r>
            <a:endParaRPr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311275" y="1529200"/>
            <a:ext cx="8254200" cy="31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Présentation des différents algorithmes de classification et de leur optimisation</a:t>
            </a:r>
            <a:r>
              <a:rPr lang="fr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lt1"/>
                </a:solidFill>
              </a:rPr>
              <a:t>-</a:t>
            </a:r>
            <a:r>
              <a:rPr lang="fr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fr" sz="1500">
                <a:solidFill>
                  <a:schemeClr val="lt1"/>
                </a:solidFill>
              </a:rPr>
              <a:t>1ère réduction :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/>
              <a:t> </a:t>
            </a:r>
            <a:endParaRPr sz="1200"/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/>
              <a:t>-</a:t>
            </a:r>
            <a:r>
              <a:rPr lang="fr" sz="700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fr" sz="1200"/>
              <a:t>2ème réduction :</a:t>
            </a:r>
            <a:endParaRPr sz="1200"/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275" y="2751350"/>
            <a:ext cx="554355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263" y="4109763"/>
            <a:ext cx="66389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275" y="4418225"/>
            <a:ext cx="8709875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63" name="Google Shape;263;p31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264" name="Google Shape;264;p31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Classification des différents peptides</a:t>
            </a:r>
            <a:endParaRPr/>
          </a:p>
        </p:txBody>
      </p:sp>
      <p:sp>
        <p:nvSpPr>
          <p:cNvPr id="265" name="Google Shape;265;p31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Comparaisons des résultats de chaque algorithme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66" name="Google Shape;266;p31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31"/>
          <p:cNvSpPr txBox="1"/>
          <p:nvPr/>
        </p:nvSpPr>
        <p:spPr>
          <a:xfrm>
            <a:off x="207500" y="4726675"/>
            <a:ext cx="612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Crédits : https://www.kaggle.com/datasets/catherinerasgaitis/mxmh-survey-results</a:t>
            </a:r>
            <a:endParaRPr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31"/>
          <p:cNvSpPr txBox="1"/>
          <p:nvPr/>
        </p:nvSpPr>
        <p:spPr>
          <a:xfrm>
            <a:off x="311275" y="1529200"/>
            <a:ext cx="8254200" cy="31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Présentation des différents algorithmes de classification et de leur optimisation</a:t>
            </a:r>
            <a:r>
              <a:rPr lang="fr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lt1"/>
                </a:solidFill>
              </a:rPr>
              <a:t>-</a:t>
            </a:r>
            <a:r>
              <a:rPr lang="fr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fr" sz="1500">
                <a:solidFill>
                  <a:schemeClr val="lt1"/>
                </a:solidFill>
              </a:rPr>
              <a:t>2ème</a:t>
            </a:r>
            <a:r>
              <a:rPr lang="fr" sz="1500">
                <a:solidFill>
                  <a:schemeClr val="lt1"/>
                </a:solidFill>
              </a:rPr>
              <a:t> réduction :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/>
              <a:t> </a:t>
            </a:r>
            <a:endParaRPr sz="1200"/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/>
              <a:t>-</a:t>
            </a:r>
            <a:r>
              <a:rPr lang="fr" sz="700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fr" sz="1200"/>
              <a:t>2ème réduction :</a:t>
            </a:r>
            <a:endParaRPr sz="1200"/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9" name="Google Shape;2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263" y="2763100"/>
            <a:ext cx="551497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275" y="4109775"/>
            <a:ext cx="87098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050" y="4427750"/>
            <a:ext cx="870987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77" name="Google Shape;277;p32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278" name="Google Shape;278;p32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Modélisation</a:t>
            </a:r>
            <a:r>
              <a:rPr lang="fr"/>
              <a:t> du GAN</a:t>
            </a:r>
            <a:endParaRPr/>
          </a:p>
        </p:txBody>
      </p:sp>
      <p:sp>
        <p:nvSpPr>
          <p:cNvPr id="279" name="Google Shape;279;p32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2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32"/>
          <p:cNvSpPr txBox="1"/>
          <p:nvPr/>
        </p:nvSpPr>
        <p:spPr>
          <a:xfrm>
            <a:off x="207500" y="4726675"/>
            <a:ext cx="612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Crédits : https://www.kaggle.com/datasets/catherinerasgaitis/mxmh-survey-results</a:t>
            </a:r>
            <a:endParaRPr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32"/>
          <p:cNvSpPr txBox="1"/>
          <p:nvPr/>
        </p:nvSpPr>
        <p:spPr>
          <a:xfrm>
            <a:off x="311275" y="1529200"/>
            <a:ext cx="8254200" cy="31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Recherche d’une structure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Architecture du </a:t>
            </a: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générateur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Architecture du discriminateur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Ensemble des </a:t>
            </a: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données</a:t>
            </a: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d'entraînement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Processus </a:t>
            </a: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d'entraînement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Evaluation du </a:t>
            </a: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modèle</a:t>
            </a: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Char char="●"/>
            </a:pP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Résultats</a:t>
            </a:r>
            <a:r>
              <a:rPr lang="fr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et analyse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88" name="Google Shape;288;p33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289" name="Google Shape;289;p33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Discussion &amp; Conclusion</a:t>
            </a:r>
            <a:endParaRPr/>
          </a:p>
        </p:txBody>
      </p:sp>
      <p:sp>
        <p:nvSpPr>
          <p:cNvPr id="290" name="Google Shape;290;p33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3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33"/>
          <p:cNvSpPr txBox="1"/>
          <p:nvPr/>
        </p:nvSpPr>
        <p:spPr>
          <a:xfrm>
            <a:off x="207500" y="4726675"/>
            <a:ext cx="612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Crédits : https://www.kaggle.com/datasets/catherinerasgaitis/mxmh-survey-results</a:t>
            </a:r>
            <a:endParaRPr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33"/>
          <p:cNvSpPr txBox="1"/>
          <p:nvPr/>
        </p:nvSpPr>
        <p:spPr>
          <a:xfrm>
            <a:off x="311275" y="1529200"/>
            <a:ext cx="8254200" cy="31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Char char="●"/>
            </a:pPr>
            <a:r>
              <a:rPr lang="fr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Résumé</a:t>
            </a:r>
            <a:r>
              <a:rPr lang="fr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des </a:t>
            </a:r>
            <a:r>
              <a:rPr lang="fr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résultats</a:t>
            </a:r>
            <a:endParaRPr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Char char="●"/>
            </a:pPr>
            <a:r>
              <a:rPr lang="fr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Limites du projet</a:t>
            </a:r>
            <a:endParaRPr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99" name="Google Shape;299;p34"/>
          <p:cNvSpPr txBox="1"/>
          <p:nvPr>
            <p:ph idx="1" type="subTitle"/>
          </p:nvPr>
        </p:nvSpPr>
        <p:spPr>
          <a:xfrm>
            <a:off x="741738" y="24313"/>
            <a:ext cx="3984300" cy="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fr"/>
              <a:t>P24 - Les Tontons Flingueurs.pptx</a:t>
            </a:r>
            <a:endParaRPr i="1"/>
          </a:p>
        </p:txBody>
      </p:sp>
      <p:sp>
        <p:nvSpPr>
          <p:cNvPr id="300" name="Google Shape;300;p34"/>
          <p:cNvSpPr txBox="1"/>
          <p:nvPr>
            <p:ph type="title"/>
          </p:nvPr>
        </p:nvSpPr>
        <p:spPr>
          <a:xfrm>
            <a:off x="408875" y="401325"/>
            <a:ext cx="81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Démonstration</a:t>
            </a:r>
            <a:endParaRPr/>
          </a:p>
        </p:txBody>
      </p:sp>
      <p:sp>
        <p:nvSpPr>
          <p:cNvPr id="301" name="Google Shape;301;p34"/>
          <p:cNvSpPr txBox="1"/>
          <p:nvPr>
            <p:ph idx="2" type="subTitle"/>
          </p:nvPr>
        </p:nvSpPr>
        <p:spPr>
          <a:xfrm>
            <a:off x="408875" y="974025"/>
            <a:ext cx="6560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4"/>
          <p:cNvSpPr/>
          <p:nvPr/>
        </p:nvSpPr>
        <p:spPr>
          <a:xfrm>
            <a:off x="59275" y="4513525"/>
            <a:ext cx="874500" cy="56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34"/>
          <p:cNvSpPr txBox="1"/>
          <p:nvPr/>
        </p:nvSpPr>
        <p:spPr>
          <a:xfrm>
            <a:off x="207500" y="4726675"/>
            <a:ext cx="6129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Crédits : https://www.kaggle.com/datasets/catherinerasgaitis/mxmh-survey-results</a:t>
            </a:r>
            <a:endParaRPr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4"/>
          <p:cNvSpPr txBox="1"/>
          <p:nvPr/>
        </p:nvSpPr>
        <p:spPr>
          <a:xfrm>
            <a:off x="311275" y="1529200"/>
            <a:ext cx="8254200" cy="31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Et maintenant place à la démonstration !</a:t>
            </a:r>
            <a:endParaRPr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2D343F"/>
      </a:dk1>
      <a:lt1>
        <a:srgbClr val="FFFFFF"/>
      </a:lt1>
      <a:dk2>
        <a:srgbClr val="444D5F"/>
      </a:dk2>
      <a:lt2>
        <a:srgbClr val="000000"/>
      </a:lt2>
      <a:accent1>
        <a:srgbClr val="2B92CE"/>
      </a:accent1>
      <a:accent2>
        <a:srgbClr val="5D7FB5"/>
      </a:accent2>
      <a:accent3>
        <a:srgbClr val="FF5F57"/>
      </a:accent3>
      <a:accent4>
        <a:srgbClr val="FFAB40"/>
      </a:accent4>
      <a:accent5>
        <a:srgbClr val="2AC83F"/>
      </a:accent5>
      <a:accent6>
        <a:srgbClr val="C2C2C2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